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5" d="100"/>
          <a:sy n="75" d="100"/>
        </p:scale>
        <p:origin x="878" y="22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dirty="0"/>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dirty="0"/>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9425" y="3651585"/>
            <a:ext cx="6903876" cy="861497"/>
          </a:xfrm>
        </p:spPr>
        <p:txBody>
          <a:bodyPr vert="horz" lIns="91440" tIns="45720" rIns="91440" bIns="45720" rtlCol="0" anchor="t">
            <a:normAutofit/>
          </a:bodyPr>
          <a:lstStyle/>
          <a:p>
            <a:pPr algn="just"/>
            <a:r>
              <a:rPr lang="en-US" sz="1600" b="0" dirty="0">
                <a:solidFill>
                  <a:schemeClr val="tx1"/>
                </a:solidFill>
                <a:latin typeface="Times New Roman" panose="02020603050405020304" pitchFamily="18" charset="0"/>
                <a:cs typeface="Times New Roman" panose="02020603050405020304" pitchFamily="18" charset="0"/>
              </a:rPr>
              <a:t>Student Name: </a:t>
            </a:r>
            <a:r>
              <a:rPr lang="en-US" sz="1600" dirty="0">
                <a:solidFill>
                  <a:schemeClr val="tx1"/>
                </a:solidFill>
                <a:latin typeface="Times New Roman" panose="02020603050405020304" pitchFamily="18" charset="0"/>
                <a:cs typeface="Times New Roman" panose="02020603050405020304" pitchFamily="18" charset="0"/>
              </a:rPr>
              <a:t>Aishwarya Bhaurao Kakde</a:t>
            </a:r>
          </a:p>
          <a:p>
            <a:pPr algn="just"/>
            <a:r>
              <a:rPr lang="en-US" sz="1600" b="0" dirty="0">
                <a:solidFill>
                  <a:schemeClr val="tx1"/>
                </a:solidFill>
                <a:latin typeface="Times New Roman" panose="02020603050405020304" pitchFamily="18" charset="0"/>
                <a:cs typeface="Times New Roman" panose="02020603050405020304" pitchFamily="18" charset="0"/>
              </a:rPr>
              <a:t>College Name- </a:t>
            </a:r>
            <a:r>
              <a:rPr lang="en-US" sz="1600" dirty="0">
                <a:solidFill>
                  <a:schemeClr val="tx1"/>
                </a:solidFill>
                <a:latin typeface="Times New Roman" panose="02020603050405020304" pitchFamily="18" charset="0"/>
                <a:cs typeface="Times New Roman" panose="02020603050405020304" pitchFamily="18" charset="0"/>
              </a:rPr>
              <a:t>N. K. Orchid College of Engineering and Technology, Solapur                                   </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26571" y="2726701"/>
            <a:ext cx="7623111" cy="861497"/>
          </a:xfrm>
        </p:spPr>
        <p:txBody>
          <a:bodyPr>
            <a:normAutofit/>
          </a:bodyPr>
          <a:lstStyle/>
          <a:p>
            <a:r>
              <a:rPr lang="en-IN"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89425" y="4576469"/>
            <a:ext cx="531563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AICTE STU ID </a:t>
            </a:r>
            <a:r>
              <a:rPr lang="en-US" sz="1600" b="1" dirty="0">
                <a:latin typeface="Times New Roman" panose="02020603050405020304" pitchFamily="18" charset="0"/>
                <a:cs typeface="Times New Roman" panose="02020603050405020304" pitchFamily="18" charset="0"/>
              </a:rPr>
              <a:t>:  STU6a69b5a9b36081785312681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50000"/>
              </a:lnSpc>
            </a:pPr>
            <a:r>
              <a:rPr lang="en-US" sz="1600" dirty="0">
                <a:latin typeface="Times New Roman" panose="02020603050405020304" pitchFamily="18" charset="0"/>
                <a:cs typeface="Times New Roman" panose="02020603050405020304" pitchFamily="18" charset="0"/>
              </a:rPr>
              <a:t>Agricultural performance varies across seasons due to changes in rainfall, temperature, soil conditions, water availability, crop selection, and farming practices. Farmers and decision-makers need to understand these variations to improve crop yield, reduce costs, use resources efficiently, and increase profitability.</a:t>
            </a:r>
          </a:p>
          <a:p>
            <a:pPr>
              <a:lnSpc>
                <a:spcPct val="150000"/>
              </a:lnSpc>
            </a:pPr>
            <a:r>
              <a:rPr lang="en-US" sz="1600" dirty="0">
                <a:latin typeface="Times New Roman" panose="02020603050405020304" pitchFamily="18" charset="0"/>
                <a:cs typeface="Times New Roman" panose="02020603050405020304" pitchFamily="18" charset="0"/>
              </a:rPr>
              <a:t>This project analyzes agricultural data to identify seasonal patterns, factors affecting yield, resource usage, economic performance, regional differences, and unusual patterns. The goal is to support better agricultural planning and evidence-based decision-making.</a:t>
            </a:r>
            <a:endParaRPr lang="en-IN" sz="1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298581"/>
            <a:ext cx="6276109" cy="1337630"/>
          </a:xfrm>
        </p:spPr>
        <p:txBody>
          <a:bodyPr>
            <a:normAutofit fontScale="90000"/>
          </a:bodyPr>
          <a:lstStyle/>
          <a:p>
            <a:pPr>
              <a:lnSpc>
                <a:spcPct val="150000"/>
              </a:lnSpc>
            </a:pPr>
            <a:r>
              <a:rPr lang="en-GB" dirty="0"/>
              <a:t>Project Description</a:t>
            </a:r>
            <a:br>
              <a:rPr lang="en-GB" dirty="0"/>
            </a:br>
            <a:r>
              <a:rPr lang="en-GB" sz="1800" b="0" dirty="0">
                <a:latin typeface="Times New Roman" panose="02020603050405020304" pitchFamily="18" charset="0"/>
                <a:cs typeface="Times New Roman" panose="02020603050405020304" pitchFamily="18" charset="0"/>
              </a:rPr>
              <a:t>S</a:t>
            </a:r>
            <a:r>
              <a:rPr lang="en-US" sz="1800" b="0" dirty="0">
                <a:latin typeface="Times New Roman" panose="02020603050405020304" pitchFamily="18" charset="0"/>
                <a:cs typeface="Times New Roman" panose="02020603050405020304" pitchFamily="18" charset="0"/>
              </a:rPr>
              <a:t>easonal Agriculture Performance Analysis is a data analytics project based on 4,000 farm records with 28 attributes.</a:t>
            </a:r>
            <a:br>
              <a:rPr lang="en-US" sz="1800" b="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analysis covers:</a:t>
            </a:r>
            <a:br>
              <a:rPr lang="en-US" sz="1800" b="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Seasonal yield and production 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Rainfall, temperature, humidity, and soil conditions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Fertilizer, pesticide, irrigation, and water usage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Crop and state-wise performance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Revenue, cost, profit, and profit margin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Water efficiency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Disease and pest risk</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Correlations between agricultural factors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Outliers and unusual farm performance</a:t>
            </a: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The project uses statistical analysis and visualizations such as boxplots, bar charts, heatmaps, and pairplots to identify meaningful patterns.</a:t>
            </a:r>
            <a:br>
              <a:rPr lang="en-GB" sz="1800" b="0" dirty="0">
                <a:latin typeface="Times New Roman" panose="02020603050405020304" pitchFamily="18" charset="0"/>
                <a:cs typeface="Times New Roman" panose="02020603050405020304" pitchFamily="18" charset="0"/>
              </a:rPr>
            </a:br>
            <a:endParaRPr lang="en-IN" sz="18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05F697A-15DA-DA8C-246A-DDA085B73C65}"/>
              </a:ext>
            </a:extLst>
          </p:cNvPr>
          <p:cNvSpPr txBox="1"/>
          <p:nvPr/>
        </p:nvSpPr>
        <p:spPr>
          <a:xfrm>
            <a:off x="2808514" y="2976465"/>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main end users are:</a:t>
            </a:r>
          </a:p>
          <a:p>
            <a:pPr algn="just">
              <a:lnSpc>
                <a:spcPct val="150000"/>
              </a:lnSpc>
            </a:pPr>
            <a:r>
              <a:rPr lang="en-US" sz="1600" b="1" dirty="0">
                <a:latin typeface="Times New Roman" panose="02020603050405020304" pitchFamily="18" charset="0"/>
                <a:cs typeface="Times New Roman" panose="02020603050405020304" pitchFamily="18" charset="0"/>
              </a:rPr>
              <a:t>Farmers </a:t>
            </a:r>
            <a:r>
              <a:rPr lang="en-US" sz="1600" dirty="0">
                <a:latin typeface="Times New Roman" panose="02020603050405020304" pitchFamily="18" charset="0"/>
                <a:cs typeface="Times New Roman" panose="02020603050405020304" pitchFamily="18" charset="0"/>
              </a:rPr>
              <a:t>– to improve crop selection, resource usage, and profitability.</a:t>
            </a:r>
          </a:p>
          <a:p>
            <a:pPr algn="just">
              <a:lnSpc>
                <a:spcPct val="150000"/>
              </a:lnSpc>
            </a:pPr>
            <a:r>
              <a:rPr lang="en-US" sz="1600" b="1" dirty="0">
                <a:latin typeface="Times New Roman" panose="02020603050405020304" pitchFamily="18" charset="0"/>
                <a:cs typeface="Times New Roman" panose="02020603050405020304" pitchFamily="18" charset="0"/>
              </a:rPr>
              <a:t>Agricultural planners </a:t>
            </a:r>
            <a:r>
              <a:rPr lang="en-US" sz="1600" dirty="0">
                <a:latin typeface="Times New Roman" panose="02020603050405020304" pitchFamily="18" charset="0"/>
                <a:cs typeface="Times New Roman" panose="02020603050405020304" pitchFamily="18" charset="0"/>
              </a:rPr>
              <a:t>– to plan seasonal farming activities.</a:t>
            </a:r>
          </a:p>
          <a:p>
            <a:pPr algn="just">
              <a:lnSpc>
                <a:spcPct val="150000"/>
              </a:lnSpc>
            </a:pPr>
            <a:r>
              <a:rPr lang="en-US" sz="1600" b="1" dirty="0">
                <a:latin typeface="Times New Roman" panose="02020603050405020304" pitchFamily="18" charset="0"/>
                <a:cs typeface="Times New Roman" panose="02020603050405020304" pitchFamily="18" charset="0"/>
              </a:rPr>
              <a:t>Government agricultural departments </a:t>
            </a:r>
            <a:r>
              <a:rPr lang="en-US" sz="1600" dirty="0">
                <a:latin typeface="Times New Roman" panose="02020603050405020304" pitchFamily="18" charset="0"/>
                <a:cs typeface="Times New Roman" panose="02020603050405020304" pitchFamily="18" charset="0"/>
              </a:rPr>
              <a:t>– to support policies and agricultural schemes.</a:t>
            </a:r>
          </a:p>
          <a:p>
            <a:pPr algn="just">
              <a:lnSpc>
                <a:spcPct val="150000"/>
              </a:lnSpc>
            </a:pPr>
            <a:r>
              <a:rPr lang="en-US" sz="1600" b="1" dirty="0">
                <a:latin typeface="Times New Roman" panose="02020603050405020304" pitchFamily="18" charset="0"/>
                <a:cs typeface="Times New Roman" panose="02020603050405020304" pitchFamily="18" charset="0"/>
              </a:rPr>
              <a:t>Agricultural consultants </a:t>
            </a:r>
            <a:r>
              <a:rPr lang="en-US" sz="1600" dirty="0">
                <a:latin typeface="Times New Roman" panose="02020603050405020304" pitchFamily="18" charset="0"/>
                <a:cs typeface="Times New Roman" panose="02020603050405020304" pitchFamily="18" charset="0"/>
              </a:rPr>
              <a:t>– to provide data-driven recommendations.</a:t>
            </a:r>
          </a:p>
          <a:p>
            <a:pPr algn="just">
              <a:lnSpc>
                <a:spcPct val="150000"/>
              </a:lnSpc>
            </a:pPr>
            <a:r>
              <a:rPr lang="en-US" sz="1600" b="1" dirty="0">
                <a:latin typeface="Times New Roman" panose="02020603050405020304" pitchFamily="18" charset="0"/>
                <a:cs typeface="Times New Roman" panose="02020603050405020304" pitchFamily="18" charset="0"/>
              </a:rPr>
              <a:t>Researchers and students </a:t>
            </a:r>
            <a:r>
              <a:rPr lang="en-US" sz="1600" dirty="0">
                <a:latin typeface="Times New Roman" panose="02020603050405020304" pitchFamily="18" charset="0"/>
                <a:cs typeface="Times New Roman" panose="02020603050405020304" pitchFamily="18" charset="0"/>
              </a:rPr>
              <a:t>– to study agricultural trends and relationships.</a:t>
            </a:r>
          </a:p>
          <a:p>
            <a:pPr algn="just">
              <a:lnSpc>
                <a:spcPct val="150000"/>
              </a:lnSpc>
            </a:pPr>
            <a:r>
              <a:rPr lang="en-US" sz="1600" b="1" dirty="0">
                <a:latin typeface="Times New Roman" panose="02020603050405020304" pitchFamily="18" charset="0"/>
                <a:cs typeface="Times New Roman" panose="02020603050405020304" pitchFamily="18" charset="0"/>
              </a:rPr>
              <a:t>Agribusiness organizations </a:t>
            </a:r>
            <a:r>
              <a:rPr lang="en-US" sz="1600" dirty="0">
                <a:latin typeface="Times New Roman" panose="02020603050405020304" pitchFamily="18" charset="0"/>
                <a:cs typeface="Times New Roman" panose="02020603050405020304" pitchFamily="18" charset="0"/>
              </a:rPr>
              <a:t>– to understand production, cost, and market performance.</a:t>
            </a:r>
            <a:endParaRPr lang="en-IN" sz="1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lnSpcReduction="10000"/>
          </a:bodyPr>
          <a:lstStyle/>
          <a:p>
            <a:pPr lvl="1">
              <a:lnSpc>
                <a:spcPct val="150000"/>
              </a:lnSpc>
            </a:pPr>
            <a:r>
              <a:rPr lang="en-IN" sz="1600" dirty="0"/>
              <a:t>Python</a:t>
            </a:r>
          </a:p>
          <a:p>
            <a:pPr lvl="1">
              <a:lnSpc>
                <a:spcPct val="150000"/>
              </a:lnSpc>
            </a:pPr>
            <a:r>
              <a:rPr lang="en-IN" sz="1600" dirty="0"/>
              <a:t>Data analysis and processing</a:t>
            </a:r>
          </a:p>
          <a:p>
            <a:pPr lvl="1">
              <a:lnSpc>
                <a:spcPct val="150000"/>
              </a:lnSpc>
            </a:pPr>
            <a:r>
              <a:rPr lang="en-IN" sz="1600" dirty="0"/>
              <a:t>Pandas - Data cleaning and manipulation</a:t>
            </a:r>
          </a:p>
          <a:p>
            <a:pPr lvl="1">
              <a:lnSpc>
                <a:spcPct val="150000"/>
              </a:lnSpc>
            </a:pPr>
            <a:r>
              <a:rPr lang="en-IN" sz="1600" dirty="0"/>
              <a:t>NumPy - Numerical calculations</a:t>
            </a:r>
          </a:p>
          <a:p>
            <a:pPr lvl="1">
              <a:lnSpc>
                <a:spcPct val="150000"/>
              </a:lnSpc>
            </a:pPr>
            <a:r>
              <a:rPr lang="en-IN" sz="1600" dirty="0"/>
              <a:t>Matplotlib - Data visualization</a:t>
            </a:r>
          </a:p>
          <a:p>
            <a:pPr lvl="1">
              <a:lnSpc>
                <a:spcPct val="150000"/>
              </a:lnSpc>
            </a:pPr>
            <a:r>
              <a:rPr lang="en-IN" sz="1600" dirty="0"/>
              <a:t>Seaborn - Statistical visualizations</a:t>
            </a:r>
          </a:p>
          <a:p>
            <a:pPr lvl="1">
              <a:lnSpc>
                <a:spcPct val="150000"/>
              </a:lnSpc>
            </a:pPr>
            <a:r>
              <a:rPr lang="en-IN" sz="1600" dirty="0"/>
              <a:t>Jupyter Notebook</a:t>
            </a:r>
          </a:p>
          <a:p>
            <a:pPr lvl="1">
              <a:lnSpc>
                <a:spcPct val="150000"/>
              </a:lnSpc>
            </a:pPr>
            <a:r>
              <a:rPr lang="en-IN" sz="1600" dirty="0"/>
              <a:t>Project development and documentation</a:t>
            </a:r>
          </a:p>
          <a:p>
            <a:pPr lvl="1">
              <a:lnSpc>
                <a:spcPct val="150000"/>
              </a:lnSpc>
            </a:pPr>
            <a:r>
              <a:rPr lang="en-IN" sz="1600" dirty="0"/>
              <a:t>CSV Dataset</a:t>
            </a:r>
          </a:p>
          <a:p>
            <a:pPr lvl="1">
              <a:lnSpc>
                <a:spcPct val="150000"/>
              </a:lnSpc>
            </a:pPr>
            <a:r>
              <a:rPr lang="en-IN" sz="1600" dirty="0"/>
              <a:t>Source agricultural data</a:t>
            </a:r>
          </a:p>
          <a:p>
            <a:pPr lvl="1">
              <a:lnSpc>
                <a:spcPct val="150000"/>
              </a:lnSpc>
            </a:pPr>
            <a:r>
              <a:rPr lang="en-IN" sz="1600" dirty="0"/>
              <a:t>Multivariate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5125A84-5642-EAA6-189B-027C96F419FA}"/>
              </a:ext>
            </a:extLst>
          </p:cNvPr>
          <p:cNvPicPr>
            <a:picLocks noChangeAspect="1"/>
          </p:cNvPicPr>
          <p:nvPr/>
        </p:nvPicPr>
        <p:blipFill>
          <a:blip r:embed="rId3"/>
          <a:stretch>
            <a:fillRect/>
          </a:stretch>
        </p:blipFill>
        <p:spPr>
          <a:xfrm>
            <a:off x="145026" y="1128757"/>
            <a:ext cx="4260453" cy="1773063"/>
          </a:xfrm>
          <a:prstGeom prst="rect">
            <a:avLst/>
          </a:prstGeom>
        </p:spPr>
      </p:pic>
      <p:pic>
        <p:nvPicPr>
          <p:cNvPr id="12" name="Picture 11">
            <a:extLst>
              <a:ext uri="{FF2B5EF4-FFF2-40B4-BE49-F238E27FC236}">
                <a16:creationId xmlns:a16="http://schemas.microsoft.com/office/drawing/2014/main" id="{BDA71D8D-F3C1-5540-8C73-D1DE34CC368A}"/>
              </a:ext>
            </a:extLst>
          </p:cNvPr>
          <p:cNvPicPr>
            <a:picLocks noChangeAspect="1"/>
          </p:cNvPicPr>
          <p:nvPr/>
        </p:nvPicPr>
        <p:blipFill>
          <a:blip r:embed="rId4"/>
          <a:stretch>
            <a:fillRect/>
          </a:stretch>
        </p:blipFill>
        <p:spPr>
          <a:xfrm>
            <a:off x="145026" y="3219031"/>
            <a:ext cx="4459928" cy="2985825"/>
          </a:xfrm>
          <a:prstGeom prst="rect">
            <a:avLst/>
          </a:prstGeom>
        </p:spPr>
      </p:pic>
      <p:pic>
        <p:nvPicPr>
          <p:cNvPr id="16" name="Picture 15">
            <a:extLst>
              <a:ext uri="{FF2B5EF4-FFF2-40B4-BE49-F238E27FC236}">
                <a16:creationId xmlns:a16="http://schemas.microsoft.com/office/drawing/2014/main" id="{5BCA1F15-53AB-6AAE-B475-01AE8025AAA8}"/>
              </a:ext>
            </a:extLst>
          </p:cNvPr>
          <p:cNvPicPr>
            <a:picLocks noChangeAspect="1"/>
          </p:cNvPicPr>
          <p:nvPr/>
        </p:nvPicPr>
        <p:blipFill>
          <a:blip r:embed="rId5"/>
          <a:stretch>
            <a:fillRect/>
          </a:stretch>
        </p:blipFill>
        <p:spPr>
          <a:xfrm>
            <a:off x="5044508" y="1201586"/>
            <a:ext cx="5085079" cy="495221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DA175750-21D2-74EF-E19C-DA197206AC57}"/>
              </a:ext>
            </a:extLst>
          </p:cNvPr>
          <p:cNvPicPr>
            <a:picLocks noChangeAspect="1"/>
          </p:cNvPicPr>
          <p:nvPr/>
        </p:nvPicPr>
        <p:blipFill>
          <a:blip r:embed="rId3"/>
          <a:stretch>
            <a:fillRect/>
          </a:stretch>
        </p:blipFill>
        <p:spPr>
          <a:xfrm>
            <a:off x="5074486" y="1201586"/>
            <a:ext cx="5598562" cy="5280913"/>
          </a:xfrm>
          <a:prstGeom prst="rect">
            <a:avLst/>
          </a:prstGeom>
        </p:spPr>
      </p:pic>
      <p:pic>
        <p:nvPicPr>
          <p:cNvPr id="14" name="Picture 13">
            <a:extLst>
              <a:ext uri="{FF2B5EF4-FFF2-40B4-BE49-F238E27FC236}">
                <a16:creationId xmlns:a16="http://schemas.microsoft.com/office/drawing/2014/main" id="{27C03988-D41F-2324-B820-D5EE78C3160A}"/>
              </a:ext>
            </a:extLst>
          </p:cNvPr>
          <p:cNvPicPr>
            <a:picLocks noChangeAspect="1"/>
          </p:cNvPicPr>
          <p:nvPr/>
        </p:nvPicPr>
        <p:blipFill>
          <a:blip r:embed="rId4"/>
          <a:stretch>
            <a:fillRect/>
          </a:stretch>
        </p:blipFill>
        <p:spPr>
          <a:xfrm>
            <a:off x="320982" y="1180633"/>
            <a:ext cx="4663844" cy="538780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D9372C0-7933-C465-C96D-299FB6383EBA}"/>
              </a:ext>
            </a:extLst>
          </p:cNvPr>
          <p:cNvPicPr>
            <a:picLocks noChangeAspect="1"/>
          </p:cNvPicPr>
          <p:nvPr/>
        </p:nvPicPr>
        <p:blipFill>
          <a:blip r:embed="rId3"/>
          <a:stretch>
            <a:fillRect/>
          </a:stretch>
        </p:blipFill>
        <p:spPr>
          <a:xfrm>
            <a:off x="4550422" y="1103017"/>
            <a:ext cx="6829038" cy="5368903"/>
          </a:xfrm>
          <a:prstGeom prst="rect">
            <a:avLst/>
          </a:prstGeom>
        </p:spPr>
      </p:pic>
      <p:pic>
        <p:nvPicPr>
          <p:cNvPr id="12" name="Picture 11">
            <a:extLst>
              <a:ext uri="{FF2B5EF4-FFF2-40B4-BE49-F238E27FC236}">
                <a16:creationId xmlns:a16="http://schemas.microsoft.com/office/drawing/2014/main" id="{5933785B-7880-4353-32CB-16EC69CBCEF1}"/>
              </a:ext>
            </a:extLst>
          </p:cNvPr>
          <p:cNvPicPr>
            <a:picLocks noChangeAspect="1"/>
          </p:cNvPicPr>
          <p:nvPr/>
        </p:nvPicPr>
        <p:blipFill>
          <a:blip r:embed="rId4"/>
          <a:stretch>
            <a:fillRect/>
          </a:stretch>
        </p:blipFill>
        <p:spPr>
          <a:xfrm>
            <a:off x="458603" y="3608753"/>
            <a:ext cx="4001430" cy="2959687"/>
          </a:xfrm>
          <a:prstGeom prst="rect">
            <a:avLst/>
          </a:prstGeom>
        </p:spPr>
      </p:pic>
      <p:pic>
        <p:nvPicPr>
          <p:cNvPr id="16" name="Picture 15">
            <a:extLst>
              <a:ext uri="{FF2B5EF4-FFF2-40B4-BE49-F238E27FC236}">
                <a16:creationId xmlns:a16="http://schemas.microsoft.com/office/drawing/2014/main" id="{109DEA87-E1B4-DA5E-7C17-3F26E2E28B44}"/>
              </a:ext>
            </a:extLst>
          </p:cNvPr>
          <p:cNvPicPr>
            <a:picLocks noChangeAspect="1"/>
          </p:cNvPicPr>
          <p:nvPr/>
        </p:nvPicPr>
        <p:blipFill>
          <a:blip r:embed="rId5"/>
          <a:stretch>
            <a:fillRect/>
          </a:stretch>
        </p:blipFill>
        <p:spPr>
          <a:xfrm>
            <a:off x="185574" y="1291196"/>
            <a:ext cx="4364848" cy="217562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A810D4D-682D-0489-B245-C9BB61D23FFA}"/>
              </a:ext>
            </a:extLst>
          </p:cNvPr>
          <p:cNvPicPr>
            <a:picLocks noChangeAspect="1"/>
          </p:cNvPicPr>
          <p:nvPr/>
        </p:nvPicPr>
        <p:blipFill>
          <a:blip r:embed="rId3"/>
          <a:stretch>
            <a:fillRect/>
          </a:stretch>
        </p:blipFill>
        <p:spPr>
          <a:xfrm>
            <a:off x="251878" y="1098289"/>
            <a:ext cx="5077281" cy="2839230"/>
          </a:xfrm>
          <a:prstGeom prst="rect">
            <a:avLst/>
          </a:prstGeom>
        </p:spPr>
      </p:pic>
      <p:pic>
        <p:nvPicPr>
          <p:cNvPr id="12" name="Picture 11">
            <a:extLst>
              <a:ext uri="{FF2B5EF4-FFF2-40B4-BE49-F238E27FC236}">
                <a16:creationId xmlns:a16="http://schemas.microsoft.com/office/drawing/2014/main" id="{14AEA68D-DF07-312F-60A0-BA33BE7AF1BA}"/>
              </a:ext>
            </a:extLst>
          </p:cNvPr>
          <p:cNvPicPr>
            <a:picLocks noChangeAspect="1"/>
          </p:cNvPicPr>
          <p:nvPr/>
        </p:nvPicPr>
        <p:blipFill>
          <a:blip r:embed="rId4"/>
          <a:stretch>
            <a:fillRect/>
          </a:stretch>
        </p:blipFill>
        <p:spPr>
          <a:xfrm>
            <a:off x="251878" y="3937519"/>
            <a:ext cx="5140027" cy="2653656"/>
          </a:xfrm>
          <a:prstGeom prst="rect">
            <a:avLst/>
          </a:prstGeom>
        </p:spPr>
      </p:pic>
      <p:pic>
        <p:nvPicPr>
          <p:cNvPr id="14" name="Picture 13">
            <a:extLst>
              <a:ext uri="{FF2B5EF4-FFF2-40B4-BE49-F238E27FC236}">
                <a16:creationId xmlns:a16="http://schemas.microsoft.com/office/drawing/2014/main" id="{B5361B27-A547-C896-3AA4-5C011C983EE9}"/>
              </a:ext>
            </a:extLst>
          </p:cNvPr>
          <p:cNvPicPr>
            <a:picLocks noChangeAspect="1"/>
          </p:cNvPicPr>
          <p:nvPr/>
        </p:nvPicPr>
        <p:blipFill>
          <a:blip r:embed="rId5"/>
          <a:stretch>
            <a:fillRect/>
          </a:stretch>
        </p:blipFill>
        <p:spPr>
          <a:xfrm>
            <a:off x="5523723" y="1289567"/>
            <a:ext cx="5477069" cy="2386694"/>
          </a:xfrm>
          <a:prstGeom prst="rect">
            <a:avLst/>
          </a:prstGeom>
        </p:spPr>
      </p:pic>
      <p:pic>
        <p:nvPicPr>
          <p:cNvPr id="16" name="Picture 15">
            <a:extLst>
              <a:ext uri="{FF2B5EF4-FFF2-40B4-BE49-F238E27FC236}">
                <a16:creationId xmlns:a16="http://schemas.microsoft.com/office/drawing/2014/main" id="{B14DA242-A8F7-8596-D41D-BBE60F3CD883}"/>
              </a:ext>
            </a:extLst>
          </p:cNvPr>
          <p:cNvPicPr>
            <a:picLocks noChangeAspect="1"/>
          </p:cNvPicPr>
          <p:nvPr/>
        </p:nvPicPr>
        <p:blipFill>
          <a:blip r:embed="rId6"/>
          <a:stretch>
            <a:fillRect/>
          </a:stretch>
        </p:blipFill>
        <p:spPr>
          <a:xfrm>
            <a:off x="6383645" y="3976445"/>
            <a:ext cx="4503674" cy="25758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12A49653-8A99-3772-01AC-8B313AB47717}"/>
              </a:ext>
            </a:extLst>
          </p:cNvPr>
          <p:cNvPicPr>
            <a:picLocks noChangeAspect="1"/>
          </p:cNvPicPr>
          <p:nvPr/>
        </p:nvPicPr>
        <p:blipFill>
          <a:blip r:embed="rId3"/>
          <a:stretch>
            <a:fillRect/>
          </a:stretch>
        </p:blipFill>
        <p:spPr>
          <a:xfrm>
            <a:off x="5922075" y="1173718"/>
            <a:ext cx="5820075" cy="5130679"/>
          </a:xfrm>
          <a:prstGeom prst="rect">
            <a:avLst/>
          </a:prstGeom>
        </p:spPr>
      </p:pic>
      <p:pic>
        <p:nvPicPr>
          <p:cNvPr id="14" name="Picture 13">
            <a:extLst>
              <a:ext uri="{FF2B5EF4-FFF2-40B4-BE49-F238E27FC236}">
                <a16:creationId xmlns:a16="http://schemas.microsoft.com/office/drawing/2014/main" id="{D4CCF838-7B41-790E-D3E5-669D88FA273D}"/>
              </a:ext>
            </a:extLst>
          </p:cNvPr>
          <p:cNvPicPr>
            <a:picLocks noChangeAspect="1"/>
          </p:cNvPicPr>
          <p:nvPr/>
        </p:nvPicPr>
        <p:blipFill>
          <a:blip r:embed="rId4"/>
          <a:stretch>
            <a:fillRect/>
          </a:stretch>
        </p:blipFill>
        <p:spPr>
          <a:xfrm>
            <a:off x="109602" y="1173718"/>
            <a:ext cx="5601093" cy="48963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193A4BE1-D07B-A36C-D400-8C3CB19FB46E}"/>
              </a:ext>
            </a:extLst>
          </p:cNvPr>
          <p:cNvSpPr txBox="1"/>
          <p:nvPr/>
        </p:nvSpPr>
        <p:spPr>
          <a:xfrm>
            <a:off x="485192" y="894509"/>
            <a:ext cx="8668138" cy="5218736"/>
          </a:xfrm>
          <a:prstGeom prst="rect">
            <a:avLst/>
          </a:prstGeom>
          <a:noFill/>
        </p:spPr>
        <p:txBody>
          <a:bodyPr wrap="square">
            <a:spAutoFit/>
          </a:bodyPr>
          <a:lstStyle/>
          <a:p>
            <a:pPr>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The project can be extended by:</a:t>
            </a:r>
          </a:p>
          <a:p>
            <a:pPr>
              <a:lnSpc>
                <a:spcPct val="150000"/>
              </a:lnSpc>
            </a:pPr>
            <a:r>
              <a:rPr lang="en-IN" sz="1600" b="1" dirty="0">
                <a:latin typeface="Times New Roman" panose="02020603050405020304" pitchFamily="18" charset="0"/>
                <a:cs typeface="Times New Roman" panose="02020603050405020304" pitchFamily="18" charset="0"/>
              </a:rPr>
              <a:t>Machine Learning </a:t>
            </a:r>
            <a:r>
              <a:rPr lang="en-IN" sz="1600" dirty="0">
                <a:latin typeface="Times New Roman" panose="02020603050405020304" pitchFamily="18" charset="0"/>
                <a:cs typeface="Times New Roman" panose="02020603050405020304" pitchFamily="18" charset="0"/>
              </a:rPr>
              <a:t>– predict crop yield and profit before cultivation.</a:t>
            </a:r>
          </a:p>
          <a:p>
            <a:pPr>
              <a:lnSpc>
                <a:spcPct val="150000"/>
              </a:lnSpc>
            </a:pPr>
            <a:r>
              <a:rPr lang="en-IN" sz="1600" b="1" dirty="0">
                <a:latin typeface="Times New Roman" panose="02020603050405020304" pitchFamily="18" charset="0"/>
                <a:cs typeface="Times New Roman" panose="02020603050405020304" pitchFamily="18" charset="0"/>
              </a:rPr>
              <a:t>Weather Forecast Integration </a:t>
            </a:r>
            <a:r>
              <a:rPr lang="en-IN" sz="1600" dirty="0">
                <a:latin typeface="Times New Roman" panose="02020603050405020304" pitchFamily="18" charset="0"/>
                <a:cs typeface="Times New Roman" panose="02020603050405020304" pitchFamily="18" charset="0"/>
              </a:rPr>
              <a:t>– use real-time weather data for seasonal predictions.</a:t>
            </a:r>
          </a:p>
          <a:p>
            <a:pPr>
              <a:lnSpc>
                <a:spcPct val="150000"/>
              </a:lnSpc>
            </a:pPr>
            <a:r>
              <a:rPr lang="en-IN" sz="1600" b="1" dirty="0">
                <a:latin typeface="Times New Roman" panose="02020603050405020304" pitchFamily="18" charset="0"/>
                <a:cs typeface="Times New Roman" panose="02020603050405020304" pitchFamily="18" charset="0"/>
              </a:rPr>
              <a:t>Crop Recommendation System </a:t>
            </a:r>
            <a:r>
              <a:rPr lang="en-IN" sz="1600" dirty="0">
                <a:latin typeface="Times New Roman" panose="02020603050405020304" pitchFamily="18" charset="0"/>
                <a:cs typeface="Times New Roman" panose="02020603050405020304" pitchFamily="18" charset="0"/>
              </a:rPr>
              <a:t>– recommend suitable crops based on soil and environmental conditions.</a:t>
            </a:r>
          </a:p>
          <a:p>
            <a:pPr>
              <a:lnSpc>
                <a:spcPct val="150000"/>
              </a:lnSpc>
            </a:pPr>
            <a:r>
              <a:rPr lang="en-IN" sz="1600" b="1" dirty="0">
                <a:latin typeface="Times New Roman" panose="02020603050405020304" pitchFamily="18" charset="0"/>
                <a:cs typeface="Times New Roman" panose="02020603050405020304" pitchFamily="18" charset="0"/>
              </a:rPr>
              <a:t>Profit Prediction </a:t>
            </a:r>
            <a:r>
              <a:rPr lang="en-IN" sz="1600" dirty="0">
                <a:latin typeface="Times New Roman" panose="02020603050405020304" pitchFamily="18" charset="0"/>
                <a:cs typeface="Times New Roman" panose="02020603050405020304" pitchFamily="18" charset="0"/>
              </a:rPr>
              <a:t>– estimate expected revenue, cost, and profit.</a:t>
            </a:r>
          </a:p>
          <a:p>
            <a:pPr>
              <a:lnSpc>
                <a:spcPct val="150000"/>
              </a:lnSpc>
            </a:pPr>
            <a:r>
              <a:rPr lang="en-IN" sz="1600" b="1" dirty="0">
                <a:latin typeface="Times New Roman" panose="02020603050405020304" pitchFamily="18" charset="0"/>
                <a:cs typeface="Times New Roman" panose="02020603050405020304" pitchFamily="18" charset="0"/>
              </a:rPr>
              <a:t>Disease Prediction </a:t>
            </a:r>
            <a:r>
              <a:rPr lang="en-IN" sz="1600" dirty="0">
                <a:latin typeface="Times New Roman" panose="02020603050405020304" pitchFamily="18" charset="0"/>
                <a:cs typeface="Times New Roman" panose="02020603050405020304" pitchFamily="18" charset="0"/>
              </a:rPr>
              <a:t>– predict disease and pest risks using environmental conditions.</a:t>
            </a:r>
          </a:p>
          <a:p>
            <a:pPr>
              <a:lnSpc>
                <a:spcPct val="150000"/>
              </a:lnSpc>
            </a:pPr>
            <a:r>
              <a:rPr lang="en-IN" sz="1600" b="1" dirty="0">
                <a:latin typeface="Times New Roman" panose="02020603050405020304" pitchFamily="18" charset="0"/>
                <a:cs typeface="Times New Roman" panose="02020603050405020304" pitchFamily="18" charset="0"/>
              </a:rPr>
              <a:t>Water Management </a:t>
            </a:r>
            <a:r>
              <a:rPr lang="en-IN" sz="1600" dirty="0">
                <a:latin typeface="Times New Roman" panose="02020603050405020304" pitchFamily="18" charset="0"/>
                <a:cs typeface="Times New Roman" panose="02020603050405020304" pitchFamily="18" charset="0"/>
              </a:rPr>
              <a:t>– develop intelligent irrigation recommendations to reduce water consumption.</a:t>
            </a:r>
          </a:p>
          <a:p>
            <a:pPr>
              <a:lnSpc>
                <a:spcPct val="150000"/>
              </a:lnSpc>
            </a:pPr>
            <a:r>
              <a:rPr lang="en-IN" sz="1600" b="1" dirty="0">
                <a:latin typeface="Times New Roman" panose="02020603050405020304" pitchFamily="18" charset="0"/>
                <a:cs typeface="Times New Roman" panose="02020603050405020304" pitchFamily="18" charset="0"/>
              </a:rPr>
              <a:t>Real-Time Dashboard </a:t>
            </a:r>
            <a:r>
              <a:rPr lang="en-IN" sz="1600" dirty="0">
                <a:latin typeface="Times New Roman" panose="02020603050405020304" pitchFamily="18" charset="0"/>
                <a:cs typeface="Times New Roman" panose="02020603050405020304" pitchFamily="18" charset="0"/>
              </a:rPr>
              <a:t>– create an interactive dashboard using Power BI, Tableau, or Streamlit.</a:t>
            </a:r>
          </a:p>
          <a:p>
            <a:pPr>
              <a:lnSpc>
                <a:spcPct val="150000"/>
              </a:lnSpc>
            </a:pPr>
            <a:r>
              <a:rPr lang="en-IN" sz="1600" b="1" dirty="0">
                <a:latin typeface="Times New Roman" panose="02020603050405020304" pitchFamily="18" charset="0"/>
                <a:cs typeface="Times New Roman" panose="02020603050405020304" pitchFamily="18" charset="0"/>
              </a:rPr>
              <a:t>Satellite/Remote Sensing Data </a:t>
            </a:r>
            <a:r>
              <a:rPr lang="en-IN" sz="1600" dirty="0">
                <a:latin typeface="Times New Roman" panose="02020603050405020304" pitchFamily="18" charset="0"/>
                <a:cs typeface="Times New Roman" panose="02020603050405020304" pitchFamily="18" charset="0"/>
              </a:rPr>
              <a:t>– incorporate satellite imagery to monitor crop and soil conditions.</a:t>
            </a:r>
          </a:p>
          <a:p>
            <a:pPr>
              <a:lnSpc>
                <a:spcPct val="150000"/>
              </a:lnSpc>
            </a:pPr>
            <a:r>
              <a:rPr lang="en-IN" sz="1600" b="1" dirty="0">
                <a:latin typeface="Times New Roman" panose="02020603050405020304" pitchFamily="18" charset="0"/>
                <a:cs typeface="Times New Roman" panose="02020603050405020304" pitchFamily="18" charset="0"/>
              </a:rPr>
              <a:t>Larger Datasets </a:t>
            </a:r>
            <a:r>
              <a:rPr lang="en-IN" sz="1600" dirty="0">
                <a:latin typeface="Times New Roman" panose="02020603050405020304" pitchFamily="18" charset="0"/>
                <a:cs typeface="Times New Roman" panose="02020603050405020304" pitchFamily="18" charset="0"/>
              </a:rPr>
              <a:t>– include more years, regions, and crop varieties for stronger predictions.</a:t>
            </a:r>
          </a:p>
          <a:p>
            <a:pPr>
              <a:lnSpc>
                <a:spcPct val="150000"/>
              </a:lnSpc>
            </a:pPr>
            <a:r>
              <a:rPr lang="en-IN" sz="1600" b="1" dirty="0">
                <a:latin typeface="Times New Roman" panose="02020603050405020304" pitchFamily="18" charset="0"/>
                <a:cs typeface="Times New Roman" panose="02020603050405020304" pitchFamily="18" charset="0"/>
              </a:rPr>
              <a:t>AI-Based Decision Support </a:t>
            </a:r>
            <a:r>
              <a:rPr lang="en-IN" sz="1600" dirty="0">
                <a:latin typeface="Times New Roman" panose="02020603050405020304" pitchFamily="18" charset="0"/>
                <a:cs typeface="Times New Roman" panose="02020603050405020304" pitchFamily="18" charset="0"/>
              </a:rPr>
              <a:t>– develop a complete agricultural decision-support system for farmers and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1140349"/>
            <a:ext cx="4735798" cy="801100"/>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192202" y="2076471"/>
            <a:ext cx="10035998" cy="352056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b="1" dirty="0">
                <a:latin typeface="Times New Roman" panose="02020603050405020304" pitchFamily="18" charset="0"/>
                <a:cs typeface="Times New Roman" panose="02020603050405020304" pitchFamily="18" charset="0"/>
              </a:rPr>
              <a:t>https://github.com/aishwaryakakde/Seasonal_Agriculture_Performance_Analysis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E4896DE-1889-52E5-209F-C41298A0DC60}"/>
              </a:ext>
            </a:extLst>
          </p:cNvPr>
          <p:cNvPicPr>
            <a:picLocks noChangeAspect="1"/>
          </p:cNvPicPr>
          <p:nvPr/>
        </p:nvPicPr>
        <p:blipFill>
          <a:blip r:embed="rId3"/>
          <a:stretch>
            <a:fillRect/>
          </a:stretch>
        </p:blipFill>
        <p:spPr>
          <a:xfrm>
            <a:off x="773274" y="1368214"/>
            <a:ext cx="8156754" cy="497629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124075" y="46706"/>
            <a:ext cx="14316075" cy="6811293"/>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7442615" y="2216074"/>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5210175" y="120459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706</TotalTime>
  <Words>538</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Seasonal Agriculture Performance Analysis</vt:lpstr>
      <vt:lpstr>PROBLEM  STATEMENT</vt:lpstr>
      <vt:lpstr>Project Description Seasonal Agriculture Performance Analysis is a data analytics project based on 4,000 farm records with 28 attributes. The analysis covers: • Seasonal yield and production performance • Rainfall, temperature, humidity, and soil conditions • Fertilizer, pesticide, irrigation, and water usage • Crop and state-wise performance • Revenue, cost, profit, and profit margin • Water efficiency • Disease and pest risk • Correlations between agricultural factors • Outliers and unusual farm performance The project uses statistical analysis and visualizations such as boxplots, bar charts, heatmaps, and pairplots to identify meaningful patterns.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aishwarya k</cp:lastModifiedBy>
  <cp:revision>100</cp:revision>
  <dcterms:created xsi:type="dcterms:W3CDTF">2021-07-11T13:13:15Z</dcterms:created>
  <dcterms:modified xsi:type="dcterms:W3CDTF">2026-09-06T09:27:57Z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